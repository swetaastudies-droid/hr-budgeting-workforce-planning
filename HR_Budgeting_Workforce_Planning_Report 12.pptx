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67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Engineering</c:v>
                </c:pt>
                <c:pt idx="1">
                  <c:v>Sales</c:v>
                </c:pt>
                <c:pt idx="2">
                  <c:v>Finance</c:v>
                </c:pt>
                <c:pt idx="3">
                  <c:v>HR</c:v>
                </c:pt>
                <c:pt idx="4">
                  <c:v>Operations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100</c:v>
                </c:pt>
                <c:pt idx="2">
                  <c:v>75</c:v>
                </c:pt>
                <c:pt idx="3">
                  <c:v>50</c:v>
                </c:pt>
                <c:pt idx="4">
                  <c:v>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Engineering</c:v>
                </c:pt>
                <c:pt idx="1">
                  <c:v>Sales</c:v>
                </c:pt>
                <c:pt idx="2">
                  <c:v>Finance</c:v>
                </c:pt>
                <c:pt idx="3">
                  <c:v>HR</c:v>
                </c:pt>
                <c:pt idx="4">
                  <c:v>Operations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166</c:v>
                </c:pt>
                <c:pt idx="1">
                  <c:v>110</c:v>
                </c:pt>
                <c:pt idx="2">
                  <c:v>80</c:v>
                </c:pt>
                <c:pt idx="3">
                  <c:v>54</c:v>
                </c:pt>
                <c:pt idx="4">
                  <c:v>137</c:v>
                </c:pt>
              </c:numCache>
            </c:numRef>
          </c:val>
        </c:ser>
        <c:axId val="127993344"/>
        <c:axId val="127994880"/>
      </c:barChart>
      <c:catAx>
        <c:axId val="127993344"/>
        <c:scaling>
          <c:orientation val="minMax"/>
        </c:scaling>
        <c:axPos val="b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27994880"/>
        <c:crosses val="autoZero"/>
        <c:auto val="1"/>
        <c:lblAlgn val="ctr"/>
        <c:lblOffset val="100"/>
      </c:catAx>
      <c:valAx>
        <c:axId val="127994880"/>
        <c:scaling>
          <c:orientation val="minMax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27993344"/>
        <c:crosses val="autoZero"/>
        <c:crossBetween val="between"/>
      </c:valAx>
    </c:plotArea>
    <c:legend>
      <c:legendPos val="b"/>
      <c:layout/>
      <c:txPr>
        <a:bodyPr/>
        <a:lstStyle/>
        <a:p>
          <a:pPr>
            <a:defRPr sz="800"/>
          </a:pPr>
          <a:endParaRPr lang="en-US"/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</c:title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HR Spend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Salary</c:v>
                </c:pt>
                <c:pt idx="1">
                  <c:v>Benefits</c:v>
                </c:pt>
                <c:pt idx="2">
                  <c:v>Training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389.28</c:v>
                </c:pt>
                <c:pt idx="1">
                  <c:v>46.58</c:v>
                </c:pt>
                <c:pt idx="2">
                  <c:v>12.09</c:v>
                </c:pt>
              </c:numCache>
            </c:numRef>
          </c:val>
        </c:ser>
        <c:dLbls/>
        <c:firstSliceAng val="0"/>
        <c:holeSize val="50"/>
      </c:doughnutChart>
    </c:plotArea>
    <c:legend>
      <c:legendPos val="b"/>
      <c:layout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zero"/>
  </c:chart>
  <c:txPr>
    <a:bodyPr/>
    <a:lstStyle/>
    <a:p>
      <a:pPr>
        <a:defRPr sz="18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(₹M)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Engineering</c:v>
                </c:pt>
                <c:pt idx="1">
                  <c:v>Operations</c:v>
                </c:pt>
                <c:pt idx="2">
                  <c:v>Sales</c:v>
                </c:pt>
                <c:pt idx="3">
                  <c:v>Finance</c:v>
                </c:pt>
                <c:pt idx="4">
                  <c:v>Human Resources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151.83800000000002</c:v>
                </c:pt>
                <c:pt idx="1">
                  <c:v>104.851</c:v>
                </c:pt>
                <c:pt idx="2">
                  <c:v>88.387</c:v>
                </c:pt>
                <c:pt idx="3">
                  <c:v>64.233000000000004</c:v>
                </c:pt>
                <c:pt idx="4">
                  <c:v>38.64</c:v>
                </c:pt>
              </c:numCache>
            </c:numRef>
          </c:val>
        </c:ser>
        <c:axId val="180480256"/>
        <c:axId val="180490240"/>
      </c:barChart>
      <c:catAx>
        <c:axId val="180480256"/>
        <c:scaling>
          <c:orientation val="minMax"/>
        </c:scaling>
        <c:axPos val="l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80490240"/>
        <c:crosses val="autoZero"/>
        <c:auto val="1"/>
        <c:lblAlgn val="ctr"/>
        <c:lblOffset val="100"/>
      </c:catAx>
      <c:valAx>
        <c:axId val="180490240"/>
        <c:scaling>
          <c:orientation val="minMax"/>
        </c:scaling>
        <c:axPos val="b"/>
        <c:majorGridlines/>
        <c:numFmt formatCode="General" sourceLinked="1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80480256"/>
        <c:crosses val="autoZero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HR Spend (₹M)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Current</c:v>
                </c:pt>
                <c:pt idx="1">
                  <c:v>10% Planned Hires</c:v>
                </c:pt>
                <c:pt idx="2">
                  <c:v>15% Training Cut</c:v>
                </c:pt>
                <c:pt idx="3">
                  <c:v>8% Salary Increment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447.947</c:v>
                </c:pt>
                <c:pt idx="1">
                  <c:v>455.56299999999999</c:v>
                </c:pt>
                <c:pt idx="2">
                  <c:v>446.13299999999998</c:v>
                </c:pt>
                <c:pt idx="3">
                  <c:v>479.089</c:v>
                </c:pt>
              </c:numCache>
            </c:numRef>
          </c:val>
        </c:ser>
        <c:axId val="180563328"/>
        <c:axId val="180569216"/>
      </c:barChart>
      <c:catAx>
        <c:axId val="180563328"/>
        <c:scaling>
          <c:orientation val="minMax"/>
        </c:scaling>
        <c:axPos val="b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80569216"/>
        <c:crosses val="autoZero"/>
        <c:auto val="1"/>
        <c:lblAlgn val="ctr"/>
        <c:lblOffset val="100"/>
      </c:catAx>
      <c:valAx>
        <c:axId val="180569216"/>
        <c:scaling>
          <c:orientation val="minMax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80563328"/>
        <c:crosses val="autoZero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Eng.</c:v>
                </c:pt>
                <c:pt idx="1">
                  <c:v>Ops.</c:v>
                </c:pt>
                <c:pt idx="2">
                  <c:v>Sales</c:v>
                </c:pt>
                <c:pt idx="3">
                  <c:v>Fin.</c:v>
                </c:pt>
                <c:pt idx="4">
                  <c:v>HR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125</c:v>
                </c:pt>
                <c:pt idx="2">
                  <c:v>100</c:v>
                </c:pt>
                <c:pt idx="3">
                  <c:v>75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Eng.</c:v>
                </c:pt>
                <c:pt idx="1">
                  <c:v>Ops.</c:v>
                </c:pt>
                <c:pt idx="2">
                  <c:v>Sales</c:v>
                </c:pt>
                <c:pt idx="3">
                  <c:v>Fin.</c:v>
                </c:pt>
                <c:pt idx="4">
                  <c:v>HR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166</c:v>
                </c:pt>
                <c:pt idx="1">
                  <c:v>137</c:v>
                </c:pt>
                <c:pt idx="2">
                  <c:v>110</c:v>
                </c:pt>
                <c:pt idx="3">
                  <c:v>80</c:v>
                </c:pt>
                <c:pt idx="4">
                  <c:v>54</c:v>
                </c:pt>
              </c:numCache>
            </c:numRef>
          </c:val>
        </c:ser>
        <c:axId val="180672000"/>
        <c:axId val="180673536"/>
      </c:barChart>
      <c:catAx>
        <c:axId val="180672000"/>
        <c:scaling>
          <c:orientation val="minMax"/>
        </c:scaling>
        <c:axPos val="b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80673536"/>
        <c:crosses val="autoZero"/>
        <c:auto val="1"/>
        <c:lblAlgn val="ctr"/>
        <c:lblOffset val="100"/>
      </c:catAx>
      <c:valAx>
        <c:axId val="180673536"/>
        <c:scaling>
          <c:orientation val="minMax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80672000"/>
        <c:crosses val="autoZero"/>
        <c:crossBetween val="between"/>
      </c:valAx>
    </c:plotArea>
    <c:legend>
      <c:legendPos val="b"/>
      <c:layout/>
      <c:txPr>
        <a:bodyPr/>
        <a:lstStyle/>
        <a:p>
          <a:pPr>
            <a:defRPr sz="800"/>
          </a:pPr>
          <a:endParaRPr lang="en-US"/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</c:title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Salary</c:v>
                </c:pt>
                <c:pt idx="1">
                  <c:v>Benefits</c:v>
                </c:pt>
                <c:pt idx="2">
                  <c:v>Training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389.28</c:v>
                </c:pt>
                <c:pt idx="1">
                  <c:v>46.58</c:v>
                </c:pt>
                <c:pt idx="2">
                  <c:v>12.09</c:v>
                </c:pt>
              </c:numCache>
            </c:numRef>
          </c:val>
        </c:ser>
        <c:dLbls/>
        <c:firstSliceAng val="0"/>
        <c:holeSize val="50"/>
      </c:doughnutChart>
    </c:plotArea>
    <c:plotVisOnly val="1"/>
    <c:dispBlanksAs val="zero"/>
  </c:chart>
  <c:txPr>
    <a:bodyPr/>
    <a:lstStyle/>
    <a:p>
      <a:pPr>
        <a:defRPr sz="1800"/>
      </a:pPr>
      <a:endParaRPr lang="en-US"/>
    </a:p>
  </c:tx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Eng.</c:v>
                </c:pt>
                <c:pt idx="1">
                  <c:v>Fin.</c:v>
                </c:pt>
                <c:pt idx="2">
                  <c:v>HR</c:v>
                </c:pt>
                <c:pt idx="3">
                  <c:v>Ops.</c:v>
                </c:pt>
                <c:pt idx="4">
                  <c:v>Sales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-23.16</c:v>
                </c:pt>
                <c:pt idx="1">
                  <c:v>14.229999999999999</c:v>
                </c:pt>
                <c:pt idx="2">
                  <c:v>8.6399999999999988</c:v>
                </c:pt>
                <c:pt idx="3">
                  <c:v>4.8499999999999996</c:v>
                </c:pt>
                <c:pt idx="4">
                  <c:v>6.39</c:v>
                </c:pt>
              </c:numCache>
            </c:numRef>
          </c:val>
        </c:ser>
        <c:axId val="180826112"/>
        <c:axId val="180827648"/>
      </c:barChart>
      <c:catAx>
        <c:axId val="180826112"/>
        <c:scaling>
          <c:orientation val="minMax"/>
        </c:scaling>
        <c:axPos val="l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80827648"/>
        <c:crosses val="autoZero"/>
        <c:auto val="1"/>
        <c:lblAlgn val="ctr"/>
        <c:lblOffset val="100"/>
      </c:catAx>
      <c:valAx>
        <c:axId val="180827648"/>
        <c:scaling>
          <c:orientation val="minMax"/>
        </c:scaling>
        <c:axPos val="b"/>
        <c:majorGridlines/>
        <c:numFmt formatCode="General" sourceLinked="1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80826112"/>
        <c:crosses val="autoZero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51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0" y="1051560"/>
            <a:ext cx="1764792" cy="182880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21040" y="5486400"/>
            <a:ext cx="3867912" cy="13716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8046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HR BUDGETING
&amp; WORKFORCE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97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2E1EE"/>
                </a:solidFill>
                <a:latin typeface="Aptos"/>
              </a:rPr>
              <a:t>Data-Driven Workforce, Cost &amp; Scenario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3375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6E6E6"/>
                </a:solidFill>
                <a:latin typeface="Aptos"/>
              </a:rPr>
              <a:t>EXCEL +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Prepared by  •  Swetaa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605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500
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2E1EE"/>
                </a:solidFill>
                <a:latin typeface="Aptos"/>
              </a:rPr>
              <a:t>Hypothetical planning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Turning workforce and cost data into structured HR planning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11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8489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051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630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CURRENT HEADCOUNT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6479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258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325880"/>
            <a:ext cx="54864" cy="105156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4630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PLANNED HIRES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76479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54864" cy="1051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FORECASTED HEADCOUNT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6479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547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3258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39" y="1325880"/>
            <a:ext cx="54864" cy="105156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19" y="14630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TOTAL HR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176479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₹447.95M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88920"/>
            <a:ext cx="6583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The project uses a hypothetical workforce dataset of 500 employees.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Analysis integrates workforce forecasting, HR cost analysis, budget comparison and scenario planning.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Current workforce: 500 employees; planned hires: 85; planned exits: 38.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Average HR cost per employee is approximately ₹895,894.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Power BI provides interactive workforce and financial analysis.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What-If analysis tests hiring, training and salary assumptions.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788920"/>
            <a:ext cx="3794760" cy="2377440"/>
          </a:xfrm>
          <a:prstGeom prst="roundRect">
            <a:avLst/>
          </a:prstGeom>
          <a:solidFill>
            <a:srgbClr val="E1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0" y="30632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8489"/>
                </a:solidFill>
                <a:latin typeface="Aptos"/>
              </a:rPr>
              <a:t>KEY 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61188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3233B"/>
                </a:solidFill>
                <a:latin typeface="Aptos"/>
              </a:rPr>
              <a:t>The report converts workforce and cost data into actionable HR planning insights.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HR Budgeting &amp; Workforce Planning  •  Amity Global Business School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01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Workforce Forecast &amp; Hiring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Department-wise movement from current headcount to 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11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8489"/>
                </a:solidFill>
                <a:latin typeface="Aptos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64008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Department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Current HC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Planned Hires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Planned Exits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Forecasted HC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E293B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E293B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110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E293B"/>
                          </a:solidFill>
                          <a:latin typeface="Aptos"/>
                        </a:rP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E293B"/>
                          </a:solidFill>
                          <a:latin typeface="Aptos"/>
                        </a:rPr>
                        <a:t>Human Resources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54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E293B"/>
                          </a:solidFill>
                          <a:latin typeface="Aptos"/>
                        </a:rPr>
                        <a:t>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E293B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500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85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547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0" y="1371600"/>
          <a:ext cx="42062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983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8489"/>
                </a:solidFill>
                <a:latin typeface="Aptos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Workforce is projected to increase from 500 to 547 employees (+47 net).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Engineering has the highest planned hiring requirement, followed by Operations.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HR Budgeting &amp; Workforce Planning  •  Amity Global Business School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01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HR Budget &amp; Cost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Core workforce and financial KPIs from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11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8489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051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63039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CURRENT HEADCOUNT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6479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325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80" y="1325880"/>
            <a:ext cx="54864" cy="105156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463039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PLANNED HIRES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325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12080" y="1325880"/>
            <a:ext cx="54864" cy="1051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60" y="1463039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PLANNED EXITS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176479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325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79" y="1325880"/>
            <a:ext cx="54864" cy="105156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59" y="1463039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FORECASTED HEADCOUNT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176479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547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325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84080" y="1325880"/>
            <a:ext cx="54864" cy="1051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59" y="1463039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TOTAL HR SPEND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9" y="176479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₹447.95M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65176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2651760"/>
            <a:ext cx="54864" cy="105156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2788920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COST / EMPLOYEE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30906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₹895.89K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265176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926080" y="2651760"/>
            <a:ext cx="54864" cy="1051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0" y="2788920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TRAINING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30906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₹12.09M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0" y="265176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212080" y="2651760"/>
            <a:ext cx="54864" cy="105156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94960" y="2788920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TRAINING / EMPLOYEE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30906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₹24.18K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265176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498079" y="2651760"/>
            <a:ext cx="54864" cy="1051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59" y="2788920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BUDGET ALLOCATION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59" y="30906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₹437M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84080" y="265176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784080" y="2651760"/>
            <a:ext cx="54864" cy="105156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66959" y="2788920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BUDGET UTILIZATION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59" y="30906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102.51%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4389120"/>
            <a:ext cx="10881360" cy="1143000"/>
          </a:xfrm>
          <a:prstGeom prst="roundRect">
            <a:avLst/>
          </a:prstGeom>
          <a:solidFill>
            <a:srgbClr val="FB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45720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AD48"/>
                </a:solidFill>
                <a:latin typeface="Aptos"/>
              </a:rPr>
              <a:t>OBSERVATION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4517136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33B"/>
                </a:solidFill>
                <a:latin typeface="Aptos"/>
              </a:rPr>
              <a:t>Current HR spend of ₹447.95M exceeds the ₹437M budget allocation, resulting in 102.51% budget utilization.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HR Budgeting &amp; Workforce Planning  •  Amity Global Business School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501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HR Spend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Composition of total HR expenditure across salary, benefits and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11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8489"/>
                </a:solidFill>
                <a:latin typeface="Aptos"/>
              </a:rPr>
              <a:t>05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5029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Budget vs Actual Variance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Department-level comparison of allocated budget and actual HR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11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8489"/>
                </a:solidFill>
                <a:latin typeface="Aptos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58521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Department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Budget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Actual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Variance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₹175.00M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₹151.84M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-₹23.16M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Finance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₹50.00M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₹64.23M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+₹14.23M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Human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₹30.00M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₹38.64M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+₹8.64M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Operations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₹100.00M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₹104.85M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+₹4.85M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₹82.00M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₹88.39M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+₹6.39M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₹437.00M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₹447.95M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Aptos"/>
                        </a:rPr>
                        <a:t>+₹10.95M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Department-wise Workforce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Distribution of annual workforce cost across departments.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11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8489"/>
                </a:solidFill>
                <a:latin typeface="Aptos"/>
              </a:rPr>
              <a:t>07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25880"/>
          <a:ext cx="57150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29400" y="1417320"/>
          <a:ext cx="4663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Department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% of Total Cost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Aptos"/>
                        </a:rPr>
                        <a:t>33.90%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Aptos"/>
                        </a:rPr>
                        <a:t>Operations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Aptos"/>
                        </a:rPr>
                        <a:t>23.41%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Aptos"/>
                        </a:rPr>
                        <a:t>19.73%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Aptos"/>
                        </a:rPr>
                        <a:t>Finance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Aptos"/>
                        </a:rPr>
                        <a:t>14.34%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Aptos"/>
                        </a:rPr>
                        <a:t>Human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Aptos"/>
                        </a:rPr>
                        <a:t>8.63%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20840" y="45262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8489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4892040"/>
            <a:ext cx="4343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33B"/>
                </a:solidFill>
                <a:latin typeface="Aptos"/>
              </a:rPr>
              <a:t>Engineering and Operations together account for the largest share of workforce cost in the hypothetical dataset.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HR Budgeting &amp; Workforce Planning  •  Amity Global Business School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01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Scenario &amp; What-If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Testing how hiring, training and salary assumptions can affect HR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11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8489"/>
                </a:solidFill>
                <a:latin typeface="Aptos"/>
              </a:rPr>
              <a:t>08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25880"/>
          <a:ext cx="66294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417320"/>
          <a:ext cx="3840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Scenario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Approx. Spend</a:t>
                      </a:r>
                    </a:p>
                  </a:txBody>
                  <a:tcPr>
                    <a:solidFill>
                      <a:srgbClr val="13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E293B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₹447.95M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E293B"/>
                          </a:solidFill>
                          <a:latin typeface="Aptos"/>
                        </a:rPr>
                        <a:t>10% Planned Hires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₹455.56M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E293B"/>
                          </a:solidFill>
                          <a:latin typeface="Aptos"/>
                        </a:rPr>
                        <a:t>15% Training 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₹446.13M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E293B"/>
                          </a:solidFill>
                          <a:latin typeface="Aptos"/>
                        </a:rPr>
                        <a:t>8% Salary Increment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E293B"/>
                          </a:solidFill>
                          <a:latin typeface="Aptos"/>
                        </a:rPr>
                        <a:t>₹479.09M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43800" y="43434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8489"/>
                </a:solidFill>
                <a:latin typeface="Aptos"/>
              </a:rPr>
              <a:t>WHAT IT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70916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Hiring increases projected spend.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Training reduction lowers spend.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Salary increment creates the largest modeled increase.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HR Budgeting &amp; Workforce Planning  •  Amity Global Business School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01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Interactive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A single view for workforce, cost, variance and scenario exploration.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11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8489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10972800" cy="4892040"/>
          </a:xfrm>
          <a:prstGeom prst="roundRect">
            <a:avLst/>
          </a:prstGeom>
          <a:solidFill>
            <a:srgbClr val="F5F8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54864" cy="9601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91639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HR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9339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₹447.95M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55448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554480"/>
            <a:ext cx="54864" cy="96012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691639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HEADCOUNT 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99339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547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54864" cy="9601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39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COST / EMPLOYEE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9339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₹895.89K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55448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15400" y="1554480"/>
            <a:ext cx="54864" cy="96012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1691639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BUDGET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9339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102.51%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868680" y="2788920"/>
          <a:ext cx="36576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709160" y="2788920"/>
          <a:ext cx="28346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7726679" y="2788920"/>
          <a:ext cx="34290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68680" y="5559552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8489"/>
                </a:solidFill>
                <a:latin typeface="Aptos"/>
              </a:rPr>
              <a:t>Interactive controls: Department  •  Job Level  •  Planning Year  •  Salary Increment  •  Hiring Numbers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HR Budgeting &amp; Workforce Planning  •  Amity Global Business School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01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Recommendations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Translating the analysis into practical HR planning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11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8489"/>
                </a:solidFill>
                <a:latin typeface="Aptos"/>
              </a:rPr>
              <a:t>010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167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3233B"/>
                </a:solidFill>
                <a:latin typeface="Aptos"/>
              </a:rPr>
              <a:t>Monitor departmental budget 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316736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Aptos"/>
              </a:rPr>
              <a:t>Review departments where actual HR spending exceeds allocated budgets.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396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3233B"/>
                </a:solidFill>
                <a:latin typeface="Aptos"/>
              </a:rPr>
              <a:t>Strengthen workforce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39696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Aptos"/>
              </a:rPr>
              <a:t>Align hiring and exits with forecasted workforce requirements.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626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3233B"/>
                </a:solidFill>
                <a:latin typeface="Aptos"/>
              </a:rPr>
              <a:t>Evaluate salary cost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62656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Aptos"/>
              </a:rPr>
              <a:t>Assess salary increments against their effect on total HR expenditure.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856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3233B"/>
                </a:solidFill>
                <a:latin typeface="Aptos"/>
              </a:rPr>
              <a:t>Optimize training expenditure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785616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Aptos"/>
              </a:rPr>
              <a:t>Review training budgets based on employee requirements and expected outcomes.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617720"/>
            <a:ext cx="457200" cy="45720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7091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085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3233B"/>
                </a:solidFill>
                <a:latin typeface="Aptos"/>
              </a:rPr>
              <a:t>Use What-If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608576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Aptos"/>
              </a:rPr>
              <a:t>Evaluate hiring, training and compensation assumptions before implementation.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59552"/>
            <a:ext cx="10652760" cy="658368"/>
          </a:xfrm>
          <a:prstGeom prst="roundRect">
            <a:avLst/>
          </a:prstGeom>
          <a:solidFill>
            <a:srgbClr val="E1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715000"/>
            <a:ext cx="10195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3233B"/>
                </a:solidFill>
                <a:latin typeface="Aptos"/>
              </a:rPr>
              <a:t>The model integrates workforce data, financial analysis and scenario planning to support structured, data-driven HR planning.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HR Budgeting &amp; Workforce Planning  •  Amity Global Business School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01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Tools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End-to-end workflow used to build the HR planning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11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8489"/>
                </a:solidFill>
                <a:latin typeface="Aptos"/>
              </a:rPr>
              <a:t>011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200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19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8489"/>
                </a:solidFill>
                <a:latin typeface="Aptos"/>
              </a:rPr>
              <a:t>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Employee database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Workforce planning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Budget vs actual analysis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PivotTables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Variance analysis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Scenario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200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AD48"/>
                </a:solidFill>
                <a:latin typeface="Aptos"/>
              </a:rP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Interactive dashboard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KPI cards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Workforce forecasting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HR spend analysis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Budget variance visualization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What-If parameters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417320"/>
            <a:ext cx="3200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8489"/>
                </a:solidFill>
                <a:latin typeface="Aptos"/>
              </a:rP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240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233B"/>
                </a:solidFill>
                <a:latin typeface="Aptos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5603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898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233B"/>
                </a:solidFill>
                <a:latin typeface="Aptos"/>
              </a:rPr>
              <a:t>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218687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557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233B"/>
                </a:solidFill>
                <a:latin typeface="Aptos"/>
              </a:rPr>
              <a:t>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8770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2153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233B"/>
                </a:solidFill>
                <a:latin typeface="Aptos"/>
              </a:rPr>
              <a:t>Scenario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53542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873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233B"/>
                </a:solidFill>
                <a:latin typeface="Aptos"/>
              </a:rPr>
              <a:t>HR Planning Insights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HR Budgeting &amp; Workforce Planning  •  Amity Global Business School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013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4E1E1"/>
                </a:solidFill>
                <a:latin typeface="Aptos"/>
              </a:rPr>
              <a:t>HR Budgeting &amp; Workforce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718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2E1EE"/>
                </a:solidFill>
                <a:latin typeface="Aptos"/>
              </a:rPr>
              <a:t>Data-Driven Workforce, Cost &amp; Scenario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0" y="4114800"/>
            <a:ext cx="54864" cy="1051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4251960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5537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11480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4114800"/>
            <a:ext cx="54864" cy="1051560"/>
          </a:xfrm>
          <a:prstGeom prst="rect">
            <a:avLst/>
          </a:prstGeom>
          <a:solidFill>
            <a:srgbClr val="E6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4251960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537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547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11480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4114800"/>
            <a:ext cx="54864" cy="1051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59" y="4251960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HR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45537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3233B"/>
                </a:solidFill>
                <a:latin typeface="Aptos"/>
              </a:rPr>
              <a:t>₹447.95M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6235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833</Words>
  <Application>Microsoft Macintosh PowerPoint</Application>
  <PresentationFormat>Custom</PresentationFormat>
  <Paragraphs>248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Swe</dc:creator>
  <dc:description>generated using python-pptx</dc:description>
  <cp:lastModifiedBy>Swe</cp:lastModifiedBy>
  <cp:revision>2</cp:revision>
  <dcterms:created xsi:type="dcterms:W3CDTF">2013-01-27T09:14:16Z</dcterms:created>
  <dcterms:modified xsi:type="dcterms:W3CDTF">2026-09-27T12:16:02Z</dcterms:modified>
</cp:coreProperties>
</file>